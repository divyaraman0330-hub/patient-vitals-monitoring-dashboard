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x7oS+1Fra4QZ+Oa2lLtxH3PH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43" name="Google Shape;143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00" name="Google Shape;200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github.com/divyaraman0330-hub/Patient-Vitals-Monitoring-Dashboard.g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65650" y="3771900"/>
            <a:ext cx="17235300" cy="546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48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50" b="0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50" b="0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Problem Statement Title: </a:t>
            </a:r>
            <a:r>
              <a:rPr lang="en-US" sz="3450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Remote patient monitoring dashboard</a:t>
            </a:r>
            <a:endParaRPr sz="3450" b="0" i="0" u="none" strike="noStrike" cap="none" dirty="0">
              <a:solidFill>
                <a:srgbClr val="17365D"/>
              </a:solidFill>
              <a:latin typeface="+mn-lt"/>
              <a:ea typeface="Cambria"/>
              <a:cs typeface="Cambria"/>
              <a:sym typeface="Cambria"/>
            </a:endParaRPr>
          </a:p>
          <a:p>
            <a:pPr lvl="0" algn="just">
              <a:lnSpc>
                <a:spcPct val="200000"/>
              </a:lnSpc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Team Name:</a:t>
            </a:r>
            <a:r>
              <a:rPr lang="en-US" sz="3450" b="0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 </a:t>
            </a:r>
            <a:r>
              <a:rPr lang="en-US" sz="3450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Data Alchemists</a:t>
            </a:r>
            <a:endParaRPr dirty="0">
              <a:latin typeface="+mn-l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Institute Name:</a:t>
            </a:r>
            <a:r>
              <a:rPr lang="en-US" sz="3450" b="0" i="0" u="none" strike="noStrike" cap="none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 Sri Krishna Ad</a:t>
            </a:r>
            <a:r>
              <a:rPr lang="en-US" sz="3450" dirty="0">
                <a:solidFill>
                  <a:srgbClr val="17365D"/>
                </a:solidFill>
                <a:latin typeface="+mn-lt"/>
                <a:ea typeface="Cambria"/>
                <a:cs typeface="Cambria"/>
                <a:sym typeface="Cambria"/>
              </a:rPr>
              <a:t>ithya College Of Arts And Science</a:t>
            </a:r>
            <a:endParaRPr dirty="0">
              <a:latin typeface="+mn-lt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-40147" y="9624545"/>
            <a:ext cx="18302747" cy="862757"/>
            <a:chOff x="-3884" y="-66675"/>
            <a:chExt cx="4820477" cy="227228"/>
          </a:xfrm>
        </p:grpSpPr>
        <p:sp>
          <p:nvSpPr>
            <p:cNvPr id="94" name="Google Shape;94;p1"/>
            <p:cNvSpPr/>
            <p:nvPr/>
          </p:nvSpPr>
          <p:spPr>
            <a:xfrm>
              <a:off x="-3884" y="-33338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B53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838200" y="2745875"/>
            <a:ext cx="17235300" cy="25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DATATHON ’26</a:t>
            </a:r>
            <a:endParaRPr dirty="0"/>
          </a:p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29-01-2026</a:t>
            </a:r>
            <a:endParaRPr dirty="0"/>
          </a:p>
          <a:p>
            <a:pPr marL="0" marR="0" lvl="0" indent="0" algn="ctr" rtl="0">
              <a:lnSpc>
                <a:spcPct val="15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Details of the Team and Problem Statement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6553200" y="9825354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991599" y="4991099"/>
            <a:ext cx="6923547" cy="692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527357"/>
            <a:ext cx="8458200" cy="194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0" y="289831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10892502" y="723455"/>
            <a:ext cx="2213897" cy="221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991600" y="4991100"/>
            <a:ext cx="1900902" cy="190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64306" y="286885"/>
            <a:ext cx="2336617" cy="2332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"/>
          <p:cNvCxnSpPr/>
          <p:nvPr/>
        </p:nvCxnSpPr>
        <p:spPr>
          <a:xfrm rot="-10723699" flipH="1">
            <a:off x="1030421" y="1842881"/>
            <a:ext cx="10245457" cy="268855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 txBox="1"/>
          <p:nvPr/>
        </p:nvSpPr>
        <p:spPr>
          <a:xfrm>
            <a:off x="1028698" y="920561"/>
            <a:ext cx="10401301" cy="88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DATASET OVERVIEW AND SOURCING</a:t>
            </a:r>
            <a:endParaRPr dirty="0"/>
          </a:p>
        </p:txBody>
      </p:sp>
      <p:sp>
        <p:nvSpPr>
          <p:cNvPr id="114" name="Google Shape;114;p2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0" y="9504386"/>
            <a:ext cx="18288000" cy="862757"/>
            <a:chOff x="0" y="-66675"/>
            <a:chExt cx="4816593" cy="22722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B53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6553200" y="9659868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19" name="Google Shape;119;p2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8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606298" y="2345302"/>
            <a:ext cx="16072200" cy="506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b="1" u="sng" dirty="0">
                <a:solidFill>
                  <a:schemeClr val="dk1"/>
                </a:solidFill>
                <a:latin typeface="+mj-lt"/>
              </a:rPr>
              <a:t>Dataset Overview:</a:t>
            </a: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b="1" u="sng" dirty="0">
              <a:solidFill>
                <a:schemeClr val="dk1"/>
              </a:solidFill>
              <a:latin typeface="+mj-lt"/>
            </a:endParaRP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3000" b="1" u="sng" dirty="0">
                <a:solidFill>
                  <a:schemeClr val="dk1"/>
                </a:solidFill>
                <a:latin typeface="+mj-lt"/>
              </a:rPr>
            </a:br>
            <a:r>
              <a:rPr lang="en-US" sz="2900" dirty="0">
                <a:solidFill>
                  <a:schemeClr val="dk1"/>
                </a:solidFill>
                <a:latin typeface="+mj-lt"/>
              </a:rPr>
              <a:t> </a:t>
            </a:r>
            <a:endParaRPr lang="en-US" sz="3000" b="1" u="sng" dirty="0">
              <a:solidFill>
                <a:schemeClr val="dk1"/>
              </a:solidFill>
              <a:latin typeface="+mj-lt"/>
            </a:endParaRPr>
          </a:p>
          <a:p>
            <a:pPr marL="0" lvl="0" indent="0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u="sng" dirty="0">
                <a:solidFill>
                  <a:schemeClr val="dk1"/>
                </a:solidFill>
                <a:latin typeface="+mj-lt"/>
              </a:rPr>
              <a:t>Data Source:</a:t>
            </a:r>
            <a:br>
              <a:rPr lang="en-US" sz="2900" b="1" dirty="0">
                <a:solidFill>
                  <a:schemeClr val="dk1"/>
                </a:solidFill>
                <a:latin typeface="+mj-lt"/>
              </a:rPr>
            </a:br>
            <a:r>
              <a:rPr lang="en-US" sz="2900" dirty="0">
                <a:solidFill>
                  <a:schemeClr val="dk1"/>
                </a:solidFill>
              </a:rPr>
              <a:t> </a:t>
            </a:r>
            <a:endParaRPr sz="2900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FB6B3-3AE4-0C11-7CEA-0E74B1333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348" y="3644474"/>
            <a:ext cx="14040465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Contains patient vital signs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: Heart Rate, Systolic BP, Diastolic BP, SpO₂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Includes multiple patients with time-stamped readings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Useful for analyzing trends, monitoring vitals, and identifying critical conditions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5A278-BFC4-41FF-4132-0D2A6566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348" y="7008770"/>
            <a:ext cx="13509521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Publicly available dataset accessed through Kaggle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Dataset Name</a:t>
            </a:r>
            <a:r>
              <a:rPr lang="en-US" altLang="en-US" sz="2800" dirty="0">
                <a:solidFill>
                  <a:schemeClr val="tx1"/>
                </a:solidFill>
                <a:latin typeface="+mn-lt"/>
              </a:rPr>
              <a:t>: Human Vital Signs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1028699" y="839003"/>
            <a:ext cx="1141893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Cambria"/>
                <a:cs typeface="Cambria"/>
                <a:sym typeface="Cambria"/>
              </a:rPr>
              <a:t>TOOLS AND TECHNOLOGIES</a:t>
            </a:r>
            <a:endParaRPr dirty="0">
              <a:latin typeface="+mj-lt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-25400" y="9449643"/>
            <a:ext cx="18288000" cy="862757"/>
            <a:chOff x="0" y="-66675"/>
            <a:chExt cx="4816593" cy="227228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" name="Google Shape;134;p3"/>
          <p:cNvCxnSpPr/>
          <p:nvPr/>
        </p:nvCxnSpPr>
        <p:spPr>
          <a:xfrm rot="-10723699" flipH="1">
            <a:off x="1029927" y="1780232"/>
            <a:ext cx="7808041" cy="197441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3"/>
          <p:cNvSpPr txBox="1"/>
          <p:nvPr/>
        </p:nvSpPr>
        <p:spPr>
          <a:xfrm>
            <a:off x="6553200" y="9660289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36" name="Google Shape;136;p3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591550" y="2488025"/>
            <a:ext cx="16072200" cy="587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3000" b="1" u="sng" dirty="0">
                <a:solidFill>
                  <a:schemeClr val="dk1"/>
                </a:solidFill>
                <a:latin typeface="+mn-lt"/>
              </a:rPr>
              <a:t>Microsoft Power BI :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cleaning and transformation using Power Query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modeling and creation of calculated metrics</a:t>
            </a:r>
          </a:p>
          <a:p>
            <a:pPr marL="45720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Data visualization and dashboard development</a:t>
            </a:r>
            <a:endParaRPr lang="en-US" sz="2400" dirty="0">
              <a:solidFill>
                <a:schemeClr val="dk1"/>
              </a:solidFill>
              <a:latin typeface="+mn-lt"/>
            </a:endParaRPr>
          </a:p>
          <a:p>
            <a:pPr marL="444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</a:pPr>
            <a:endParaRPr sz="2400" dirty="0">
              <a:solidFill>
                <a:schemeClr val="dk1"/>
              </a:solidFill>
              <a:latin typeface="+mn-lt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3000" b="1" u="sng" dirty="0">
                <a:solidFill>
                  <a:schemeClr val="dk1"/>
                </a:solidFill>
                <a:latin typeface="+mn-lt"/>
              </a:rPr>
              <a:t>Microsoft Excel:</a:t>
            </a:r>
          </a:p>
          <a:p>
            <a:pPr marL="457200" lvl="0" indent="-412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sz="2900" dirty="0">
                <a:solidFill>
                  <a:schemeClr val="dk1"/>
                </a:solidFill>
                <a:latin typeface="+mn-lt"/>
              </a:rPr>
              <a:t>Preliminary data inspection and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1125310" y="785686"/>
            <a:ext cx="12666889" cy="77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DEVELOPMENT &amp; EVALUATION</a:t>
            </a:r>
            <a:endParaRPr dirty="0"/>
          </a:p>
        </p:txBody>
      </p:sp>
      <p:sp>
        <p:nvSpPr>
          <p:cNvPr id="147" name="Google Shape;147;p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grpSp>
        <p:nvGrpSpPr>
          <p:cNvPr id="148" name="Google Shape;148;p4"/>
          <p:cNvGrpSpPr/>
          <p:nvPr/>
        </p:nvGrpSpPr>
        <p:grpSpPr>
          <a:xfrm>
            <a:off x="0" y="9513143"/>
            <a:ext cx="18288000" cy="862757"/>
            <a:chOff x="0" y="-66675"/>
            <a:chExt cx="4816593" cy="227228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1" name="Google Shape;151;p4"/>
          <p:cNvCxnSpPr/>
          <p:nvPr/>
        </p:nvCxnSpPr>
        <p:spPr>
          <a:xfrm rot="-10723699" flipH="1">
            <a:off x="1127080" y="1543846"/>
            <a:ext cx="11672095" cy="289086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4"/>
          <p:cNvSpPr txBox="1"/>
          <p:nvPr/>
        </p:nvSpPr>
        <p:spPr>
          <a:xfrm>
            <a:off x="6477000" y="9682911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210354" y="2224894"/>
            <a:ext cx="1585353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Model Name :</a:t>
            </a:r>
            <a:r>
              <a:rPr lang="en-IN" sz="3600" dirty="0">
                <a:latin typeface="+mn-lt"/>
              </a:rPr>
              <a:t> </a:t>
            </a:r>
            <a:r>
              <a:rPr lang="en-US" sz="3600" dirty="0">
                <a:latin typeface="+mn-lt"/>
              </a:rPr>
              <a:t>Rule-Based Analytical Model (Threshold Based)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Model accuracy : ~95% (represents the proportion of vitals correctly flagged using thresholds)</a:t>
            </a:r>
            <a:endParaRPr sz="3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40137" y="1524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/>
        </p:nvSpPr>
        <p:spPr>
          <a:xfrm>
            <a:off x="1028698" y="629266"/>
            <a:ext cx="8671200" cy="77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lang="en-US" sz="3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FINDINGS</a:t>
            </a:r>
            <a:endParaRPr dirty="0"/>
          </a:p>
        </p:txBody>
      </p:sp>
      <p:sp>
        <p:nvSpPr>
          <p:cNvPr id="165" name="Google Shape;165;p5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grpSp>
        <p:nvGrpSpPr>
          <p:cNvPr id="166" name="Google Shape;166;p5"/>
          <p:cNvGrpSpPr/>
          <p:nvPr/>
        </p:nvGrpSpPr>
        <p:grpSpPr>
          <a:xfrm>
            <a:off x="-25400" y="9424243"/>
            <a:ext cx="18288000" cy="862757"/>
            <a:chOff x="0" y="-66675"/>
            <a:chExt cx="4816593" cy="227228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6208849" y="9741484"/>
            <a:ext cx="534663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cxnSp>
        <p:nvCxnSpPr>
          <p:cNvPr id="170" name="Google Shape;170;p5"/>
          <p:cNvCxnSpPr/>
          <p:nvPr/>
        </p:nvCxnSpPr>
        <p:spPr>
          <a:xfrm rot="-10723699" flipH="1">
            <a:off x="1029398" y="1610591"/>
            <a:ext cx="6586469" cy="136122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1" name="Google Shape;171;p5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44B958-0A21-0BC2-20E2-4033F9B23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8" y="2745728"/>
            <a:ext cx="14838420" cy="479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Most patients’ vitals are within </a:t>
            </a: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safe ranges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Critical readings identified for patients outside safe thresholds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High-risk patients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: Older age group or repeated abnormal vitals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Heart Rate Alerts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: &lt;60 or &gt;100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Blood Pressure Alerts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: Systolic &lt;90 or &gt;140, Diastolic &lt;60 or &gt;90</a:t>
            </a:r>
          </a:p>
          <a:p>
            <a:pPr marL="457200" lvl="1" indent="-412750" eaLnBrk="0" fontAlgn="base" hangingPunc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900"/>
              <a:buFont typeface="Arial"/>
              <a:buChar char="●"/>
            </a:pPr>
            <a:r>
              <a:rPr lang="en-US" altLang="en-US" sz="2900" b="1" dirty="0">
                <a:solidFill>
                  <a:schemeClr val="dk1"/>
                </a:solidFill>
                <a:latin typeface="+mn-lt"/>
              </a:rPr>
              <a:t>SpO₂ Alerts</a:t>
            </a:r>
            <a:r>
              <a:rPr lang="en-US" altLang="en-US" sz="2900" dirty="0">
                <a:solidFill>
                  <a:schemeClr val="dk1"/>
                </a:solidFill>
                <a:latin typeface="+mn-lt"/>
              </a:rPr>
              <a:t>: &lt;95 indicates low oxygen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6"/>
          <p:cNvSpPr txBox="1"/>
          <p:nvPr/>
        </p:nvSpPr>
        <p:spPr>
          <a:xfrm>
            <a:off x="914400" y="783202"/>
            <a:ext cx="9144000" cy="97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VISUALIZATION</a:t>
            </a:r>
            <a:endParaRPr/>
          </a:p>
        </p:txBody>
      </p:sp>
      <p:cxnSp>
        <p:nvCxnSpPr>
          <p:cNvPr id="180" name="Google Shape;180;p6"/>
          <p:cNvCxnSpPr/>
          <p:nvPr/>
        </p:nvCxnSpPr>
        <p:spPr>
          <a:xfrm rot="-10723699" flipH="1">
            <a:off x="915480" y="1723058"/>
            <a:ext cx="6093842" cy="164811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 txBox="1"/>
          <p:nvPr/>
        </p:nvSpPr>
        <p:spPr>
          <a:xfrm>
            <a:off x="6096000" y="9725680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82" name="Google Shape;182;p6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1210354" y="2224894"/>
            <a:ext cx="1691541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https://github.com/divyaraman0330-hub/Patient-Vitals-Monitoring-Dashboard.git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Dashboard Visualization-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334E5B-38F3-4CD1-F3CF-B3495F29B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762" y="3384147"/>
            <a:ext cx="10526975" cy="5818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7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7"/>
          <p:cNvSpPr txBox="1"/>
          <p:nvPr/>
        </p:nvSpPr>
        <p:spPr>
          <a:xfrm>
            <a:off x="914400" y="783202"/>
            <a:ext cx="9144000" cy="97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60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/>
          </a:p>
        </p:txBody>
      </p:sp>
      <p:cxnSp>
        <p:nvCxnSpPr>
          <p:cNvPr id="192" name="Google Shape;192;p7"/>
          <p:cNvCxnSpPr/>
          <p:nvPr/>
        </p:nvCxnSpPr>
        <p:spPr>
          <a:xfrm rot="-10723699" flipH="1">
            <a:off x="915208" y="1747579"/>
            <a:ext cx="3884586" cy="115767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7"/>
          <p:cNvSpPr txBox="1"/>
          <p:nvPr/>
        </p:nvSpPr>
        <p:spPr>
          <a:xfrm>
            <a:off x="6096000" y="9725680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194" name="Google Shape;194;p7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8D007E-B4B6-FF8F-5EAE-B1D78493767E}"/>
              </a:ext>
            </a:extLst>
          </p:cNvPr>
          <p:cNvSpPr txBox="1"/>
          <p:nvPr/>
        </p:nvSpPr>
        <p:spPr>
          <a:xfrm>
            <a:off x="8421329" y="2580968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7E55F-50B0-86F8-F749-ED0DDF21C7D4}"/>
              </a:ext>
            </a:extLst>
          </p:cNvPr>
          <p:cNvSpPr txBox="1"/>
          <p:nvPr/>
        </p:nvSpPr>
        <p:spPr>
          <a:xfrm>
            <a:off x="2212170" y="2580968"/>
            <a:ext cx="13863655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This project demonstrates an effective system for monitoring patient vitals in real-time using a rule-based approach. By visualizing heart rate, blood pressure, and oxygen saturation, the dashboard helps healthcare providers quickly identify critical readings and high-risk patients, particularly older individuals or those with repeated abnormal vitals. The use of trends, alerts, and interactive visualizations ensures timely intervention, improving patient safety and enabling informed decision-making. Overall, this solution provides a simple, practical, and efficient way to monitor multiple patients simultaneously without relying on complex machine learning models.</a:t>
            </a: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1446034" y="1299545"/>
            <a:ext cx="9926261" cy="967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Team Member Details 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1428826" y="2722639"/>
            <a:ext cx="10060168" cy="409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Team Member 1 Name: </a:t>
            </a:r>
            <a:r>
              <a:rPr lang="en-US" sz="2663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DIVYA.R</a:t>
            </a:r>
            <a:endParaRPr dirty="0"/>
          </a:p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AIML	Stream: </a:t>
            </a:r>
            <a:r>
              <a:rPr lang="en-US" sz="2663" dirty="0">
                <a:latin typeface="Cambria"/>
                <a:ea typeface="Cambria"/>
                <a:cs typeface="Cambria"/>
                <a:sym typeface="Cambria"/>
              </a:rPr>
              <a:t>Computer science</a:t>
            </a: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Year: II   </a:t>
            </a:r>
            <a:endParaRPr dirty="0"/>
          </a:p>
          <a:p>
            <a:pPr marL="0" marR="0" lvl="0" indent="0" algn="l" rtl="0">
              <a:lnSpc>
                <a:spcPct val="25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3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Team Member 2 Name: </a:t>
            </a:r>
            <a:r>
              <a:rPr lang="en-US" sz="2663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PREM KUMAR.R</a:t>
            </a:r>
            <a:endParaRPr dirty="0"/>
          </a:p>
          <a:p>
            <a:pPr lvl="0">
              <a:lnSpc>
                <a:spcPct val="250056"/>
              </a:lnSpc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AIML	Stream: </a:t>
            </a:r>
            <a:r>
              <a:rPr lang="en-US" sz="2663" dirty="0">
                <a:latin typeface="Cambria"/>
                <a:ea typeface="Cambria"/>
                <a:cs typeface="Cambria"/>
                <a:sym typeface="Cambria"/>
              </a:rPr>
              <a:t>Computer science </a:t>
            </a: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Year: II</a:t>
            </a:r>
            <a:endParaRPr dirty="0"/>
          </a:p>
        </p:txBody>
      </p:sp>
      <p:grpSp>
        <p:nvGrpSpPr>
          <p:cNvPr id="205" name="Google Shape;205;p8"/>
          <p:cNvGrpSpPr/>
          <p:nvPr/>
        </p:nvGrpSpPr>
        <p:grpSpPr>
          <a:xfrm>
            <a:off x="0" y="9589343"/>
            <a:ext cx="18288000" cy="862757"/>
            <a:chOff x="0" y="-66675"/>
            <a:chExt cx="4816593" cy="227228"/>
          </a:xfrm>
        </p:grpSpPr>
        <p:sp>
          <p:nvSpPr>
            <p:cNvPr id="206" name="Google Shape;206;p8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solidFill>
              <a:srgbClr val="0B533D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8" name="Google Shape;208;p8"/>
          <p:cNvCxnSpPr/>
          <p:nvPr/>
        </p:nvCxnSpPr>
        <p:spPr>
          <a:xfrm rot="-10723699" flipH="1">
            <a:off x="1447313" y="2197704"/>
            <a:ext cx="6220441" cy="184339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8"/>
          <p:cNvSpPr txBox="1"/>
          <p:nvPr/>
        </p:nvSpPr>
        <p:spPr>
          <a:xfrm>
            <a:off x="6383764" y="9759111"/>
            <a:ext cx="9347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DATATHON 2026</a:t>
            </a:r>
            <a:endParaRPr/>
          </a:p>
        </p:txBody>
      </p:sp>
      <p:pic>
        <p:nvPicPr>
          <p:cNvPr id="210" name="Google Shape;210;p8" descr="SRCAS Official Page (@srcasofficial) · India · Instagram photos and vide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7737" y="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434</Words>
  <Application>Microsoft Office PowerPoint</Application>
  <PresentationFormat>Custom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priyadharshini9526@gmail.com</cp:lastModifiedBy>
  <cp:revision>8</cp:revision>
  <dcterms:created xsi:type="dcterms:W3CDTF">2006-08-16T00:00:00Z</dcterms:created>
  <dcterms:modified xsi:type="dcterms:W3CDTF">2026-01-29T09:03:45Z</dcterms:modified>
</cp:coreProperties>
</file>